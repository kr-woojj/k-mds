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3A5F"/>
                </a:solidFill>
              </a:rPr>
              <a:t>K-MDS Use Case #3  선박 환경규제 의무보고 데이터 상호운용성 검증 결과 — IDS Consumer → IMO Compendium 표준 매핑 → KR GEARs Voyage Template/API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</a:rPr>
              <a:t>RS-2024-00454634 3차년도 · case C02 · 2026-09-13 · 입력: vessellink(랩오투원 LAB021) Noon Report API, IDS 경유 수신본 = 원본(sha256 fb23ffbd…) · 선박 IMO 00000009(시뮬레이터) 2026-04-19~30, 이벤트 12건/필드 71종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1F3A5F"/>
                </a:solidFill>
              </a:rPr>
              <a:t>vessellink ─Provider API─▶ K-MDS Provider Connector ─IDS(DAPS·계약)─▶ KR Consumer Connector ─▶ ① IMO Compendium(FAL50) 매핑 ─▶ ② GEARs Type1 Voyage Template ─▶ ③ Nexawave Post DCS/MRV Voyage Template API(전송 미실행)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3A5F"/>
                </a:solidFill>
              </a:rPr>
              <a:t>① 표준 매핑 (Provider 71 필드 → IMO Compendium)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08760"/>
          <a:ext cx="3840480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05840"/>
                <a:gridCol w="1645920"/>
              </a:tblGrid>
              <a:tr h="20116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36576" marR="36576" marT="9144" marB="914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건수</a:t>
                      </a:r>
                    </a:p>
                  </a:txBody>
                  <a:tcPr marL="36576" marR="36576" marT="9144" marB="914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 marL="36576" marR="36576" marT="9144" marB="9144">
                    <a:solidFill>
                      <a:srgbClr val="1F3A5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매핑 완료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70 / 71 (98.6%)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미해결 isEuPort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코드북 1:1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34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voyNo→IMO0191 등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연료 구조 해소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24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IMO0654 + IMO0670/0893/0673/0903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최특정·컨텍스트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9 + 3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draft→0621/0622, 항구→0108/0111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이벤트 코드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6종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EV01/02/16/10, BUNKERING·CARGO→EV28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연료 코드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6종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Lsfo→VLSFO2020→HFO열 (FAL50 설명)</a:t>
                      </a:r>
                    </a:p>
                  </a:txBody>
                  <a:tcPr marL="36576" marR="36576" marT="9144" marB="9144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0175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</a:rPr>
              <a:t>S03에서 에이전트 단독 매핑 2~3/60 → 코드북 1:N(42필드)·후보집합 제한을 규칙으로 해소.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</a:rPr>
              <a:t>규칙은 gears_voyage_transform.py 에 고정(재현 가능).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2344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3A5F"/>
                </a:solidFill>
              </a:rPr>
              <a:t>② GEARs Type1 변환 — 레그 1 (PACTB → GTPRQ)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0" y="1508760"/>
          <a:ext cx="402336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554480"/>
                <a:gridCol w="1051560"/>
              </a:tblGrid>
              <a:tr h="20116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Type1 열</a:t>
                      </a:r>
                    </a:p>
                  </a:txBody>
                  <a:tcPr marL="36576" marR="36576" marT="9144" marB="914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 marL="36576" marR="36576" marT="9144" marB="914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근거</a:t>
                      </a:r>
                    </a:p>
                  </a:txBody>
                  <a:tcPr marL="36576" marR="36576" marT="9144" marB="9144">
                    <a:solidFill>
                      <a:srgbClr val="1F3A5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Voyage / 출발→도착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1 / PACTB→GTPRQ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IMO0191/0111/0108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출발 / 도착 (UTC)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04-19 20:36 / 04-25 01:00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IMO0065 / IMO0063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항해시간 / 거리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124.4 h / 871.6 nm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ATA−ATD / ΣIMO0613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HFO ROB 출/도, 소비, 수급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298.69/841.90, 54.96, 599.97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VLSFO2020 계열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MGO ROB 출/도, 소비, 수급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115.98/202.26, 0.60, 88.30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MGO+ULSMGO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화물작업(도착)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Yes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CARGO_WORK 이벤트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출항 화물작업·정박유휴·화물량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미도출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Provider 항목 없음</a:t>
                      </a:r>
                    </a:p>
                  </a:txBody>
                  <a:tcPr marL="36576" marR="36576" marT="9144" marB="9144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89120" y="320040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</a:rPr>
              <a:t>레그 2(GTPRQ 출항 04-29, 337 nm)는 도착 이벤트 없음 → 미완료 레그.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</a:rPr>
              <a:t>③ API 리스트: 132 필드 중 69 사용, 필수 52 중 50 충족(레그1). ImoNo 7자리 위반(테스트 ID). Token·endpoint 미확보로 전송 미실행.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234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D68A00"/>
                </a:solidFill>
              </a:rPr>
              <a:t>판정: PARTIAL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595360" y="1554480"/>
          <a:ext cx="3291840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240280"/>
              </a:tblGrid>
              <a:tr h="20116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검사 53건</a:t>
                      </a:r>
                    </a:p>
                  </a:txBody>
                  <a:tcPr marL="36576" marR="36576" marT="9144" marB="914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36576" marR="36576" marT="9144" marB="9144">
                    <a:solidFill>
                      <a:srgbClr val="1F3A5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</a:rPr>
                        <a:t>PASS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</a:rPr>
                        <a:t>36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</a:rPr>
                        <a:t>FAIL (필수 미도출)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</a:rPr>
                        <a:t>6 — 출항 화물작업, 정박유휴시간, MRV 화물량×2행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</a:rPr>
                        <a:t>WARNING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</a:rPr>
                        <a:t>5 — MGO 질량수지 +1.42 MT, 거리 교차 871.6 vs 969.6, 정박 ROB 감소 19.07 MT 미보고, PACTB UNLOCODE 미수록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</a:rPr>
                        <a:t>미완료 레그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</a:rPr>
                        <a:t>6 (레그 2 도착 전)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</a:rPr>
                        <a:t>HFO 질량수지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</a:rPr>
                        <a:t>+1.80 MT (허용 ±4.21) 통과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</a:rPr>
                        <a:t>재현성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595959"/>
                          </a:solidFill>
                        </a:rPr>
                        <a:t>입력 sha256·registry 1205·스크립트 고정</a:t>
                      </a:r>
                    </a:p>
                  </a:txBody>
                  <a:tcPr marL="36576" marR="36576" marT="9144" marB="9144"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595360" y="3703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</a:rPr>
              <a:t>전달·표준매핑·GEARs 구조 변환은 성립. 단 Provider 이벤트만으로 DCS/MRV 필수 4종을 채울 수 없고 정박 소비량이 미보고 → 제출 데이터로는 미완성.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434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3A5F"/>
                </a:solidFill>
              </a:rPr>
              <a:t>조치 요청 · 결정 사항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617720"/>
          <a:ext cx="11430000" cy="80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692640"/>
              </a:tblGrid>
              <a:tr h="20116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대상</a:t>
                      </a:r>
                    </a:p>
                  </a:txBody>
                  <a:tcPr marL="36576" marR="36576" marT="9144" marB="9144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marL="36576" marR="36576" marT="9144" marB="9144">
                    <a:solidFill>
                      <a:srgbClr val="1F3A5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랩오투원 (vessellink)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FAL50 Event/Operation 코드 채택 · 출항 화물작업·앵커 이벤트·화물량 항목 추가 · 정박 이벤트에 연료 소비량 보고 · 결측 −9999/"" 정리 · 코드북 1:N(42/68) 컨텍스트 규칙 명시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KR GEARs / Nexawave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Voyage Template API endpoint URL·Token 발급 · 템플릿 UNLOCODE 시트 갱신(PACTB 등) · 테스트 선박 IMO No 정책</a:t>
                      </a:r>
                    </a:p>
                  </a:txBody>
                  <a:tcPr marL="36576" marR="36576" marT="9144" marB="9144"/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KR 결정 (D6~D8)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95959"/>
                          </a:solidFill>
                        </a:rPr>
                        <a:t>D6 VLSFO/ULSFO→HFO 열 분류 승인(FAL50 코드 설명 근거) · D7 VerificationTypeCode 002(IMO DCS) 단독/001(EU MRV) 병행 · D8 어댑터 규칙을 GHG AI Agent 후보집합·ingress에 반영(D2·D4)</a:t>
                      </a:r>
                    </a:p>
                  </a:txBody>
                  <a:tcPr marL="36576" marR="36576" marT="9144" marB="9144"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</a:rPr>
              <a:t>증적: k-mds/verification/evidence/C02/manual_S04/ (gears-transform/*, kr-systems-api/voyage_template_fields.json, reference/*, REPORT_GHG_GEARs_verification.md)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